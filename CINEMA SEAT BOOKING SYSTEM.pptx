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 id="273" r:id="rId3"/>
    <p:sldId id="259" r:id="rId4"/>
    <p:sldId id="258" r:id="rId5"/>
    <p:sldId id="260" r:id="rId6"/>
    <p:sldId id="261" r:id="rId7"/>
    <p:sldId id="262" r:id="rId8"/>
    <p:sldId id="263" r:id="rId9"/>
    <p:sldId id="268" r:id="rId10"/>
    <p:sldId id="269" r:id="rId11"/>
    <p:sldId id="270" r:id="rId12"/>
    <p:sldId id="265" r:id="rId13"/>
    <p:sldId id="271" r:id="rId14"/>
    <p:sldId id="266" r:id="rId15"/>
    <p:sldId id="272"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78" d="100"/>
          <a:sy n="78" d="100"/>
        </p:scale>
        <p:origin x="878" y="6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a chowdary" userId="8b67612eab708b6e" providerId="LiveId" clId="{BA274A8C-BD02-4FF6-BD85-9F416A176F5B}"/>
    <pc:docChg chg="custSel modSld sldOrd">
      <pc:chgData name="akshaya chowdary" userId="8b67612eab708b6e" providerId="LiveId" clId="{BA274A8C-BD02-4FF6-BD85-9F416A176F5B}" dt="2026-10-15T18:04:36.045" v="43" actId="1076"/>
      <pc:docMkLst>
        <pc:docMk/>
      </pc:docMkLst>
      <pc:sldChg chg="ord">
        <pc:chgData name="akshaya chowdary" userId="8b67612eab708b6e" providerId="LiveId" clId="{BA274A8C-BD02-4FF6-BD85-9F416A176F5B}" dt="2026-10-15T16:16:32.966" v="25"/>
        <pc:sldMkLst>
          <pc:docMk/>
          <pc:sldMk cId="16818448" sldId="259"/>
        </pc:sldMkLst>
      </pc:sldChg>
      <pc:sldChg chg="modSp mod ord">
        <pc:chgData name="akshaya chowdary" userId="8b67612eab708b6e" providerId="LiveId" clId="{BA274A8C-BD02-4FF6-BD85-9F416A176F5B}" dt="2026-10-15T18:04:36.045" v="43" actId="1076"/>
        <pc:sldMkLst>
          <pc:docMk/>
          <pc:sldMk cId="3207397293" sldId="260"/>
        </pc:sldMkLst>
        <pc:picChg chg="mod">
          <ac:chgData name="akshaya chowdary" userId="8b67612eab708b6e" providerId="LiveId" clId="{BA274A8C-BD02-4FF6-BD85-9F416A176F5B}" dt="2026-10-15T18:04:36.045" v="43" actId="1076"/>
          <ac:picMkLst>
            <pc:docMk/>
            <pc:sldMk cId="3207397293" sldId="260"/>
            <ac:picMk id="5" creationId="{3DBCB14D-9098-8F24-D642-002A41300D72}"/>
          </ac:picMkLst>
        </pc:picChg>
      </pc:sldChg>
      <pc:sldChg chg="modSp mod">
        <pc:chgData name="akshaya chowdary" userId="8b67612eab708b6e" providerId="LiveId" clId="{BA274A8C-BD02-4FF6-BD85-9F416A176F5B}" dt="2026-10-15T16:16:47.654" v="39" actId="20577"/>
        <pc:sldMkLst>
          <pc:docMk/>
          <pc:sldMk cId="2242479828" sldId="273"/>
        </pc:sldMkLst>
        <pc:spChg chg="mod">
          <ac:chgData name="akshaya chowdary" userId="8b67612eab708b6e" providerId="LiveId" clId="{BA274A8C-BD02-4FF6-BD85-9F416A176F5B}" dt="2026-10-15T14:35:27.085" v="2" actId="20577"/>
          <ac:spMkLst>
            <pc:docMk/>
            <pc:sldMk cId="2242479828" sldId="273"/>
            <ac:spMk id="2" creationId="{09A51CA6-5A57-F9E5-3912-F4FEB1D8E746}"/>
          </ac:spMkLst>
        </pc:spChg>
        <pc:spChg chg="mod">
          <ac:chgData name="akshaya chowdary" userId="8b67612eab708b6e" providerId="LiveId" clId="{BA274A8C-BD02-4FF6-BD85-9F416A176F5B}" dt="2026-10-15T16:16:47.654" v="39" actId="20577"/>
          <ac:spMkLst>
            <pc:docMk/>
            <pc:sldMk cId="2242479828" sldId="273"/>
            <ac:spMk id="3" creationId="{CAFBF470-DE6B-47CC-E071-DC33FC4D848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0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5126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165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4237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331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878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5398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0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377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9422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5308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93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10/15/2026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55184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9C76C-8C03-0589-1011-5B05FF21E194}"/>
              </a:ext>
            </a:extLst>
          </p:cNvPr>
          <p:cNvSpPr>
            <a:spLocks noGrp="1"/>
          </p:cNvSpPr>
          <p:nvPr>
            <p:ph type="ctrTitle"/>
          </p:nvPr>
        </p:nvSpPr>
        <p:spPr/>
        <p:txBody>
          <a:bodyPr/>
          <a:lstStyle/>
          <a:p>
            <a:r>
              <a:rPr lang="en-IN" dirty="0"/>
              <a:t>CINEMA SEAT BOOKING SYSTEM</a:t>
            </a:r>
          </a:p>
        </p:txBody>
      </p:sp>
      <p:sp>
        <p:nvSpPr>
          <p:cNvPr id="3" name="Subtitle 2">
            <a:extLst>
              <a:ext uri="{FF2B5EF4-FFF2-40B4-BE49-F238E27FC236}">
                <a16:creationId xmlns:a16="http://schemas.microsoft.com/office/drawing/2014/main" id="{05A5D9B8-C01F-26D4-1538-6B18B1C779B8}"/>
              </a:ext>
            </a:extLst>
          </p:cNvPr>
          <p:cNvSpPr>
            <a:spLocks noGrp="1"/>
          </p:cNvSpPr>
          <p:nvPr>
            <p:ph type="subTitle" idx="1"/>
          </p:nvPr>
        </p:nvSpPr>
        <p:spPr/>
        <p:txBody>
          <a:bodyPr>
            <a:normAutofit fontScale="92500" lnSpcReduction="20000"/>
          </a:bodyPr>
          <a:lstStyle/>
          <a:p>
            <a:r>
              <a:rPr lang="en-IN" dirty="0">
                <a:latin typeface="Bell MT" panose="02020503060305020303" pitchFamily="18" charset="0"/>
              </a:rPr>
              <a:t>NAME :</a:t>
            </a:r>
            <a:br>
              <a:rPr lang="en-IN" dirty="0">
                <a:latin typeface="Bell MT" panose="02020503060305020303" pitchFamily="18" charset="0"/>
              </a:rPr>
            </a:br>
            <a:r>
              <a:rPr lang="en-IN" dirty="0">
                <a:latin typeface="Bell MT" panose="02020503060305020303" pitchFamily="18" charset="0"/>
              </a:rPr>
              <a:t>S.VEENA AKSHAYA(2620090069)</a:t>
            </a:r>
            <a:br>
              <a:rPr lang="en-IN" dirty="0">
                <a:latin typeface="Bell MT" panose="02020503060305020303" pitchFamily="18" charset="0"/>
              </a:rPr>
            </a:br>
            <a:r>
              <a:rPr lang="en-IN" dirty="0">
                <a:latin typeface="Bell MT" panose="02020503060305020303" pitchFamily="18" charset="0"/>
              </a:rPr>
              <a:t>K.V.N.BRUNDHA GEETHIKA(2620080031)</a:t>
            </a:r>
          </a:p>
        </p:txBody>
      </p:sp>
    </p:spTree>
    <p:extLst>
      <p:ext uri="{BB962C8B-B14F-4D97-AF65-F5344CB8AC3E}">
        <p14:creationId xmlns:p14="http://schemas.microsoft.com/office/powerpoint/2010/main" val="4098000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51CA6-5A57-F9E5-3912-F4FEB1D8E746}"/>
              </a:ext>
            </a:extLst>
          </p:cNvPr>
          <p:cNvSpPr>
            <a:spLocks noGrp="1"/>
          </p:cNvSpPr>
          <p:nvPr>
            <p:ph type="title"/>
          </p:nvPr>
        </p:nvSpPr>
        <p:spPr/>
        <p:txBody>
          <a:bodyPr/>
          <a:lstStyle/>
          <a:p>
            <a:r>
              <a:rPr lang="en-IN" dirty="0"/>
              <a:t>Outline :</a:t>
            </a:r>
          </a:p>
        </p:txBody>
      </p:sp>
      <p:sp>
        <p:nvSpPr>
          <p:cNvPr id="3" name="Content Placeholder 2">
            <a:extLst>
              <a:ext uri="{FF2B5EF4-FFF2-40B4-BE49-F238E27FC236}">
                <a16:creationId xmlns:a16="http://schemas.microsoft.com/office/drawing/2014/main" id="{CAFBF470-DE6B-47CC-E071-DC33FC4D8484}"/>
              </a:ext>
            </a:extLst>
          </p:cNvPr>
          <p:cNvSpPr>
            <a:spLocks noGrp="1"/>
          </p:cNvSpPr>
          <p:nvPr>
            <p:ph idx="1"/>
          </p:nvPr>
        </p:nvSpPr>
        <p:spPr/>
        <p:txBody>
          <a:bodyPr>
            <a:normAutofit fontScale="62500" lnSpcReduction="20000"/>
          </a:bodyPr>
          <a:lstStyle/>
          <a:p>
            <a:pPr lvl="0"/>
            <a:r>
              <a:rPr lang="en-IN">
                <a:latin typeface="Bell MT" panose="02020503060305020303" pitchFamily="18" charset="0"/>
              </a:rPr>
              <a:t>Introduction</a:t>
            </a:r>
          </a:p>
          <a:p>
            <a:pPr lvl="0"/>
            <a:r>
              <a:rPr lang="en-IN" dirty="0">
                <a:latin typeface="Bell MT" panose="02020503060305020303" pitchFamily="18" charset="0"/>
              </a:rPr>
              <a:t>Abstract</a:t>
            </a:r>
          </a:p>
          <a:p>
            <a:pPr lvl="0"/>
            <a:r>
              <a:rPr lang="en-IN" dirty="0">
                <a:latin typeface="Bell MT" panose="02020503060305020303" pitchFamily="18" charset="0"/>
              </a:rPr>
              <a:t>Understanding the Problem Statement</a:t>
            </a:r>
          </a:p>
          <a:p>
            <a:pPr lvl="0"/>
            <a:r>
              <a:rPr lang="en-IN" dirty="0">
                <a:latin typeface="Bell MT" panose="02020503060305020303" pitchFamily="18" charset="0"/>
              </a:rPr>
              <a:t>CO-1: Java Fundamentals</a:t>
            </a:r>
          </a:p>
          <a:p>
            <a:pPr lvl="0"/>
            <a:r>
              <a:rPr lang="en-IN" dirty="0">
                <a:latin typeface="Bell MT" panose="02020503060305020303" pitchFamily="18" charset="0"/>
              </a:rPr>
              <a:t>CO-2: Control Flow Statements</a:t>
            </a:r>
          </a:p>
          <a:p>
            <a:pPr lvl="0"/>
            <a:r>
              <a:rPr lang="en-IN" dirty="0">
                <a:latin typeface="Bell MT" panose="02020503060305020303" pitchFamily="18" charset="0"/>
              </a:rPr>
              <a:t>CO-3: Methods and Arrays</a:t>
            </a:r>
          </a:p>
          <a:p>
            <a:pPr lvl="0"/>
            <a:r>
              <a:rPr lang="en-IN" dirty="0">
                <a:latin typeface="Bell MT" panose="02020503060305020303" pitchFamily="18" charset="0"/>
              </a:rPr>
              <a:t>CO-4: Strings</a:t>
            </a:r>
          </a:p>
          <a:p>
            <a:pPr lvl="0"/>
            <a:r>
              <a:rPr lang="en-IN" dirty="0">
                <a:latin typeface="Bell MT" panose="02020503060305020303" pitchFamily="18" charset="0"/>
              </a:rPr>
              <a:t>CO-5: Exception Handling</a:t>
            </a:r>
          </a:p>
          <a:p>
            <a:pPr lvl="0"/>
            <a:r>
              <a:rPr lang="en-IN" dirty="0">
                <a:latin typeface="Bell MT" panose="02020503060305020303" pitchFamily="18" charset="0"/>
              </a:rPr>
              <a:t>CO-6: </a:t>
            </a:r>
            <a:r>
              <a:rPr lang="en-IN" dirty="0" err="1">
                <a:latin typeface="Bell MT" panose="02020503060305020303" pitchFamily="18" charset="0"/>
              </a:rPr>
              <a:t>StringBuffer</a:t>
            </a:r>
            <a:endParaRPr lang="en-IN" dirty="0">
              <a:latin typeface="Bell MT" panose="02020503060305020303" pitchFamily="18" charset="0"/>
            </a:endParaRPr>
          </a:p>
          <a:p>
            <a:pPr lvl="0"/>
            <a:r>
              <a:rPr lang="en-IN" dirty="0">
                <a:latin typeface="Bell MT" panose="02020503060305020303" pitchFamily="18" charset="0"/>
              </a:rPr>
              <a:t>Project Output Screenshots</a:t>
            </a:r>
          </a:p>
          <a:p>
            <a:pPr lvl="0"/>
            <a:r>
              <a:rPr lang="en-IN" dirty="0">
                <a:latin typeface="Bell MT" panose="02020503060305020303" pitchFamily="18" charset="0"/>
              </a:rPr>
              <a:t>Conclusion</a:t>
            </a:r>
          </a:p>
          <a:p>
            <a:pPr lvl="0"/>
            <a:r>
              <a:rPr lang="en-IN" dirty="0">
                <a:latin typeface="Bell MT" panose="02020503060305020303" pitchFamily="18" charset="0"/>
              </a:rPr>
              <a:t> GitHub Link</a:t>
            </a:r>
          </a:p>
          <a:p>
            <a:endParaRPr lang="en-IN" dirty="0"/>
          </a:p>
        </p:txBody>
      </p:sp>
      <p:pic>
        <p:nvPicPr>
          <p:cNvPr id="5" name="Picture 4">
            <a:extLst>
              <a:ext uri="{FF2B5EF4-FFF2-40B4-BE49-F238E27FC236}">
                <a16:creationId xmlns:a16="http://schemas.microsoft.com/office/drawing/2014/main" id="{51A918A8-9740-7040-426D-C2C0894F4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91346"/>
            <a:ext cx="5817458" cy="3274060"/>
          </a:xfrm>
          <a:prstGeom prst="rect">
            <a:avLst/>
          </a:prstGeom>
        </p:spPr>
      </p:pic>
    </p:spTree>
    <p:extLst>
      <p:ext uri="{BB962C8B-B14F-4D97-AF65-F5344CB8AC3E}">
        <p14:creationId xmlns:p14="http://schemas.microsoft.com/office/powerpoint/2010/main" val="224247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DAB4-7749-495F-F5C9-B740FB69EB46}"/>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9AEB37B0-03AF-E5F2-6CC9-E17AD86F4F39}"/>
              </a:ext>
            </a:extLst>
          </p:cNvPr>
          <p:cNvSpPr>
            <a:spLocks noGrp="1"/>
          </p:cNvSpPr>
          <p:nvPr>
            <p:ph idx="1"/>
          </p:nvPr>
        </p:nvSpPr>
        <p:spPr>
          <a:xfrm>
            <a:off x="838200" y="2011679"/>
            <a:ext cx="4579374" cy="4481195"/>
          </a:xfrm>
        </p:spPr>
        <p:txBody>
          <a:bodyPr>
            <a:normAutofit/>
          </a:bodyPr>
          <a:lstStyle/>
          <a:p>
            <a:r>
              <a:rPr lang="en-IN" dirty="0">
                <a:latin typeface="Bell MT" panose="02020503060305020303" pitchFamily="18" charset="0"/>
              </a:rPr>
              <a:t>The Cinema Seat Booking System simplifies the process of booking movie tickets. Users can select a movie, check seat availability, book seats, and purchase snacks. The system calculates the total amount and displays the booking details.</a:t>
            </a:r>
          </a:p>
        </p:txBody>
      </p:sp>
      <p:pic>
        <p:nvPicPr>
          <p:cNvPr id="5" name="Picture 4">
            <a:extLst>
              <a:ext uri="{FF2B5EF4-FFF2-40B4-BE49-F238E27FC236}">
                <a16:creationId xmlns:a16="http://schemas.microsoft.com/office/drawing/2014/main" id="{9393064F-547E-AA76-7B70-8EE87A8C2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7517" y="2011679"/>
            <a:ext cx="6455269" cy="3633019"/>
          </a:xfrm>
          <a:prstGeom prst="rect">
            <a:avLst/>
          </a:prstGeom>
        </p:spPr>
      </p:pic>
    </p:spTree>
    <p:extLst>
      <p:ext uri="{BB962C8B-B14F-4D97-AF65-F5344CB8AC3E}">
        <p14:creationId xmlns:p14="http://schemas.microsoft.com/office/powerpoint/2010/main" val="16818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7C22-F4E9-61BE-F7D0-51E6B5A73615}"/>
              </a:ext>
            </a:extLst>
          </p:cNvPr>
          <p:cNvSpPr>
            <a:spLocks noGrp="1"/>
          </p:cNvSpPr>
          <p:nvPr>
            <p:ph type="title"/>
          </p:nvPr>
        </p:nvSpPr>
        <p:spPr/>
        <p:txBody>
          <a:bodyPr/>
          <a:lstStyle/>
          <a:p>
            <a:r>
              <a:rPr lang="en-IN" dirty="0"/>
              <a:t>Abstract :</a:t>
            </a:r>
          </a:p>
        </p:txBody>
      </p:sp>
      <p:sp>
        <p:nvSpPr>
          <p:cNvPr id="3" name="Content Placeholder 2">
            <a:extLst>
              <a:ext uri="{FF2B5EF4-FFF2-40B4-BE49-F238E27FC236}">
                <a16:creationId xmlns:a16="http://schemas.microsoft.com/office/drawing/2014/main" id="{CC138991-BF2B-6D04-9605-326963C68DA5}"/>
              </a:ext>
            </a:extLst>
          </p:cNvPr>
          <p:cNvSpPr>
            <a:spLocks noGrp="1"/>
          </p:cNvSpPr>
          <p:nvPr>
            <p:ph idx="1"/>
          </p:nvPr>
        </p:nvSpPr>
        <p:spPr>
          <a:xfrm>
            <a:off x="838200" y="2011679"/>
            <a:ext cx="5946057" cy="4713585"/>
          </a:xfrm>
        </p:spPr>
        <p:txBody>
          <a:bodyPr>
            <a:normAutofit/>
          </a:bodyPr>
          <a:lstStyle/>
          <a:p>
            <a:r>
              <a:rPr lang="en-IN" dirty="0">
                <a:latin typeface="Bell MT" panose="02020503060305020303" pitchFamily="18" charset="0"/>
              </a:rPr>
              <a:t>The Smart Cinema Seat Booking System is a Java-based application that allows users to select movies, book seats, and choose snacks. It calculates the ticket cost and generates the final bill. The project demonstrates Java concepts such as data types, conditional statements, loops, classes, objects, methods, arrays, and string operations.</a:t>
            </a:r>
          </a:p>
        </p:txBody>
      </p:sp>
      <p:pic>
        <p:nvPicPr>
          <p:cNvPr id="5" name="Picture 4">
            <a:extLst>
              <a:ext uri="{FF2B5EF4-FFF2-40B4-BE49-F238E27FC236}">
                <a16:creationId xmlns:a16="http://schemas.microsoft.com/office/drawing/2014/main" id="{E55CE762-B3BE-200A-091E-AD9DB2520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4257" y="767851"/>
            <a:ext cx="5021045" cy="2825839"/>
          </a:xfrm>
          <a:prstGeom prst="rect">
            <a:avLst/>
          </a:prstGeom>
        </p:spPr>
      </p:pic>
    </p:spTree>
    <p:extLst>
      <p:ext uri="{BB962C8B-B14F-4D97-AF65-F5344CB8AC3E}">
        <p14:creationId xmlns:p14="http://schemas.microsoft.com/office/powerpoint/2010/main" val="180352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B3D6-7346-688A-403D-0273F16043E9}"/>
              </a:ext>
            </a:extLst>
          </p:cNvPr>
          <p:cNvSpPr>
            <a:spLocks noGrp="1"/>
          </p:cNvSpPr>
          <p:nvPr>
            <p:ph type="title"/>
          </p:nvPr>
        </p:nvSpPr>
        <p:spPr/>
        <p:txBody>
          <a:bodyPr/>
          <a:lstStyle/>
          <a:p>
            <a:r>
              <a:rPr lang="en-IN" b="1" dirty="0"/>
              <a:t>Problem Statement :</a:t>
            </a:r>
            <a:br>
              <a:rPr lang="en-IN" dirty="0"/>
            </a:br>
            <a:endParaRPr lang="en-IN" dirty="0"/>
          </a:p>
        </p:txBody>
      </p:sp>
      <p:sp>
        <p:nvSpPr>
          <p:cNvPr id="3" name="Content Placeholder 2">
            <a:extLst>
              <a:ext uri="{FF2B5EF4-FFF2-40B4-BE49-F238E27FC236}">
                <a16:creationId xmlns:a16="http://schemas.microsoft.com/office/drawing/2014/main" id="{E089DED8-511E-5801-A493-C2E78B6D8E89}"/>
              </a:ext>
            </a:extLst>
          </p:cNvPr>
          <p:cNvSpPr>
            <a:spLocks noGrp="1"/>
          </p:cNvSpPr>
          <p:nvPr>
            <p:ph idx="1"/>
          </p:nvPr>
        </p:nvSpPr>
        <p:spPr>
          <a:xfrm>
            <a:off x="838200" y="1559396"/>
            <a:ext cx="10515600" cy="4160520"/>
          </a:xfrm>
        </p:spPr>
        <p:txBody>
          <a:bodyPr>
            <a:normAutofit fontScale="70000" lnSpcReduction="20000"/>
          </a:bodyPr>
          <a:lstStyle/>
          <a:p>
            <a:r>
              <a:rPr lang="en-IN" dirty="0">
                <a:latin typeface="Bell MT" panose="02020503060305020303" pitchFamily="18" charset="0"/>
              </a:rPr>
              <a:t>Manual cinema ticket booking can be time-consuming and may lead to confusion regarding seat availability, ticket prices, and snack orders.</a:t>
            </a:r>
          </a:p>
          <a:p>
            <a:r>
              <a:rPr lang="en-IN" b="1" dirty="0">
                <a:latin typeface="Bell MT" panose="02020503060305020303" pitchFamily="18" charset="0"/>
              </a:rPr>
              <a:t>Proposed Solution :</a:t>
            </a:r>
            <a:endParaRPr lang="en-IN" dirty="0">
              <a:latin typeface="Bell MT" panose="02020503060305020303" pitchFamily="18" charset="0"/>
            </a:endParaRPr>
          </a:p>
          <a:p>
            <a:r>
              <a:rPr lang="en-IN" dirty="0">
                <a:latin typeface="Bell MT" panose="02020503060305020303" pitchFamily="18" charset="0"/>
              </a:rPr>
              <a:t>The Cinema Seat Booking System provides a simple menu-driven Java application that allows users to:</a:t>
            </a:r>
          </a:p>
          <a:p>
            <a:pPr lvl="0"/>
            <a:r>
              <a:rPr lang="en-IN" dirty="0">
                <a:latin typeface="Bell MT" panose="02020503060305020303" pitchFamily="18" charset="0"/>
              </a:rPr>
              <a:t>View available movies and ticket prices.</a:t>
            </a:r>
          </a:p>
          <a:p>
            <a:pPr lvl="0"/>
            <a:r>
              <a:rPr lang="en-IN" dirty="0">
                <a:latin typeface="Bell MT" panose="02020503060305020303" pitchFamily="18" charset="0"/>
              </a:rPr>
              <a:t>Select a movie and seat.</a:t>
            </a:r>
          </a:p>
          <a:p>
            <a:pPr lvl="0"/>
            <a:r>
              <a:rPr lang="en-IN" dirty="0">
                <a:latin typeface="Bell MT" panose="02020503060305020303" pitchFamily="18" charset="0"/>
              </a:rPr>
              <a:t>Check whether a seat is already booked.</a:t>
            </a:r>
          </a:p>
          <a:p>
            <a:pPr lvl="0"/>
            <a:r>
              <a:rPr lang="en-IN" dirty="0">
                <a:latin typeface="Bell MT" panose="02020503060305020303" pitchFamily="18" charset="0"/>
              </a:rPr>
              <a:t>Choose snacks and calculate the total amount.</a:t>
            </a:r>
          </a:p>
          <a:p>
            <a:pPr lvl="0"/>
            <a:r>
              <a:rPr lang="en-IN" dirty="0">
                <a:latin typeface="Bell MT" panose="02020503060305020303" pitchFamily="18" charset="0"/>
              </a:rPr>
              <a:t>View booking confirmation and a booking summary.</a:t>
            </a:r>
          </a:p>
          <a:p>
            <a:r>
              <a:rPr lang="en-IN" b="1" dirty="0">
                <a:latin typeface="Bell MT" panose="02020503060305020303" pitchFamily="18" charset="0"/>
              </a:rPr>
              <a:t>Objective:</a:t>
            </a:r>
            <a:r>
              <a:rPr lang="en-IN" dirty="0">
                <a:latin typeface="Bell MT" panose="02020503060305020303" pitchFamily="18" charset="0"/>
              </a:rPr>
              <a:t> To demonstrate how Java programming can be used to manage a basic cinema ticket booking process.</a:t>
            </a:r>
          </a:p>
          <a:p>
            <a:endParaRPr lang="en-IN" dirty="0"/>
          </a:p>
        </p:txBody>
      </p:sp>
      <p:pic>
        <p:nvPicPr>
          <p:cNvPr id="5" name="Picture 4">
            <a:extLst>
              <a:ext uri="{FF2B5EF4-FFF2-40B4-BE49-F238E27FC236}">
                <a16:creationId xmlns:a16="http://schemas.microsoft.com/office/drawing/2014/main" id="{3DBCB14D-9098-8F24-D642-002A41300D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5079" y="3030371"/>
            <a:ext cx="3398721" cy="1912797"/>
          </a:xfrm>
          <a:prstGeom prst="rect">
            <a:avLst/>
          </a:prstGeom>
        </p:spPr>
      </p:pic>
    </p:spTree>
    <p:extLst>
      <p:ext uri="{BB962C8B-B14F-4D97-AF65-F5344CB8AC3E}">
        <p14:creationId xmlns:p14="http://schemas.microsoft.com/office/powerpoint/2010/main" val="3207397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718C-991A-17E8-39AE-286DFB0C70E3}"/>
              </a:ext>
            </a:extLst>
          </p:cNvPr>
          <p:cNvSpPr>
            <a:spLocks noGrp="1"/>
          </p:cNvSpPr>
          <p:nvPr>
            <p:ph type="title"/>
          </p:nvPr>
        </p:nvSpPr>
        <p:spPr/>
        <p:txBody>
          <a:bodyPr/>
          <a:lstStyle/>
          <a:p>
            <a:r>
              <a:rPr lang="en-IN" dirty="0"/>
              <a:t>CO-1 — Data Types, Variables, Operators and Input/Output :</a:t>
            </a:r>
          </a:p>
        </p:txBody>
      </p:sp>
      <p:sp>
        <p:nvSpPr>
          <p:cNvPr id="3" name="Content Placeholder 2">
            <a:extLst>
              <a:ext uri="{FF2B5EF4-FFF2-40B4-BE49-F238E27FC236}">
                <a16:creationId xmlns:a16="http://schemas.microsoft.com/office/drawing/2014/main" id="{8E5A0781-4D14-3131-F121-25FCD81C5E16}"/>
              </a:ext>
            </a:extLst>
          </p:cNvPr>
          <p:cNvSpPr>
            <a:spLocks noGrp="1"/>
          </p:cNvSpPr>
          <p:nvPr>
            <p:ph idx="1"/>
          </p:nvPr>
        </p:nvSpPr>
        <p:spPr>
          <a:xfrm>
            <a:off x="838200" y="2051009"/>
            <a:ext cx="10515600" cy="4160520"/>
          </a:xfrm>
        </p:spPr>
        <p:txBody>
          <a:bodyPr>
            <a:normAutofit fontScale="85000" lnSpcReduction="10000"/>
          </a:bodyPr>
          <a:lstStyle/>
          <a:p>
            <a:pPr lvl="0"/>
            <a:r>
              <a:rPr lang="en-IN" b="1" dirty="0">
                <a:latin typeface="Bell MT" panose="02020503060305020303" pitchFamily="18" charset="0"/>
              </a:rPr>
              <a:t>Primitive Data Types:</a:t>
            </a:r>
            <a:r>
              <a:rPr lang="en-IN" dirty="0">
                <a:latin typeface="Bell MT" panose="02020503060305020303" pitchFamily="18" charset="0"/>
              </a:rPr>
              <a:t> int, double, char, and </a:t>
            </a:r>
            <a:r>
              <a:rPr lang="en-IN" dirty="0" err="1">
                <a:latin typeface="Bell MT" panose="02020503060305020303" pitchFamily="18" charset="0"/>
              </a:rPr>
              <a:t>boolean</a:t>
            </a:r>
            <a:r>
              <a:rPr lang="en-IN" dirty="0">
                <a:latin typeface="Bell MT" panose="02020503060305020303" pitchFamily="18" charset="0"/>
              </a:rPr>
              <a:t> store different values.</a:t>
            </a:r>
          </a:p>
          <a:p>
            <a:pPr lvl="0"/>
            <a:r>
              <a:rPr lang="en-IN" b="1" dirty="0">
                <a:latin typeface="Bell MT" panose="02020503060305020303" pitchFamily="18" charset="0"/>
              </a:rPr>
              <a:t>Reference Data Types:</a:t>
            </a:r>
            <a:r>
              <a:rPr lang="en-IN" dirty="0">
                <a:latin typeface="Bell MT" panose="02020503060305020303" pitchFamily="18" charset="0"/>
              </a:rPr>
              <a:t> String, Scanner, </a:t>
            </a:r>
            <a:r>
              <a:rPr lang="en-IN" dirty="0" err="1">
                <a:latin typeface="Bell MT" panose="02020503060305020303" pitchFamily="18" charset="0"/>
              </a:rPr>
              <a:t>StringBuffer</a:t>
            </a:r>
            <a:r>
              <a:rPr lang="en-IN" dirty="0">
                <a:latin typeface="Bell MT" panose="02020503060305020303" pitchFamily="18" charset="0"/>
              </a:rPr>
              <a:t>, and arrays store text, input objects, booking details, and data.</a:t>
            </a:r>
          </a:p>
          <a:p>
            <a:pPr lvl="0"/>
            <a:r>
              <a:rPr lang="en-IN" b="1" dirty="0">
                <a:latin typeface="Bell MT" panose="02020503060305020303" pitchFamily="18" charset="0"/>
              </a:rPr>
              <a:t>Variables and Scope:</a:t>
            </a:r>
            <a:r>
              <a:rPr lang="en-IN" dirty="0">
                <a:latin typeface="Bell MT" panose="02020503060305020303" pitchFamily="18" charset="0"/>
              </a:rPr>
              <a:t> Variables such as choice, total, and </a:t>
            </a:r>
            <a:r>
              <a:rPr lang="en-IN" dirty="0" err="1">
                <a:latin typeface="Bell MT" panose="02020503060305020303" pitchFamily="18" charset="0"/>
              </a:rPr>
              <a:t>customerName</a:t>
            </a:r>
            <a:r>
              <a:rPr lang="en-IN" dirty="0">
                <a:latin typeface="Bell MT" panose="02020503060305020303" pitchFamily="18" charset="0"/>
              </a:rPr>
              <a:t> store booking information.</a:t>
            </a:r>
          </a:p>
          <a:p>
            <a:pPr lvl="0"/>
            <a:r>
              <a:rPr lang="en-IN" b="1" dirty="0">
                <a:latin typeface="Bell MT" panose="02020503060305020303" pitchFamily="18" charset="0"/>
              </a:rPr>
              <a:t>Operators:</a:t>
            </a:r>
            <a:r>
              <a:rPr lang="en-IN" dirty="0">
                <a:latin typeface="Bell MT" panose="02020503060305020303" pitchFamily="18" charset="0"/>
              </a:rPr>
              <a:t> Arithmetic, relational, logical, and assignment operators perform calculations and validations.</a:t>
            </a:r>
          </a:p>
          <a:p>
            <a:pPr lvl="0"/>
            <a:r>
              <a:rPr lang="en-IN" b="1" dirty="0">
                <a:latin typeface="Bell MT" panose="02020503060305020303" pitchFamily="18" charset="0"/>
              </a:rPr>
              <a:t>Input/Output:</a:t>
            </a:r>
            <a:r>
              <a:rPr lang="en-IN" dirty="0">
                <a:latin typeface="Bell MT" panose="02020503060305020303" pitchFamily="18" charset="0"/>
              </a:rPr>
              <a:t> Scanner accepts customer input, while </a:t>
            </a:r>
            <a:r>
              <a:rPr lang="en-IN" dirty="0" err="1">
                <a:latin typeface="Bell MT" panose="02020503060305020303" pitchFamily="18" charset="0"/>
              </a:rPr>
              <a:t>System.out.println</a:t>
            </a:r>
            <a:r>
              <a:rPr lang="en-IN" dirty="0">
                <a:latin typeface="Bell MT" panose="02020503060305020303" pitchFamily="18" charset="0"/>
              </a:rPr>
              <a:t>() displays information.</a:t>
            </a:r>
          </a:p>
          <a:p>
            <a:r>
              <a:rPr lang="en-IN" b="1" dirty="0">
                <a:latin typeface="Bell MT" panose="02020503060305020303" pitchFamily="18" charset="0"/>
              </a:rPr>
              <a:t>Application:</a:t>
            </a:r>
            <a:r>
              <a:rPr lang="en-IN" dirty="0">
                <a:latin typeface="Bell MT" panose="02020503060305020303" pitchFamily="18" charset="0"/>
              </a:rPr>
              <a:t> These concepts collect customer details and calculate ticket costs.</a:t>
            </a:r>
          </a:p>
          <a:p>
            <a:endParaRPr lang="en-IN" b="1" dirty="0">
              <a:latin typeface="Bell MT" panose="02020503060305020303" pitchFamily="18" charset="0"/>
            </a:endParaRPr>
          </a:p>
        </p:txBody>
      </p:sp>
    </p:spTree>
    <p:extLst>
      <p:ext uri="{BB962C8B-B14F-4D97-AF65-F5344CB8AC3E}">
        <p14:creationId xmlns:p14="http://schemas.microsoft.com/office/powerpoint/2010/main" val="40467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4D58-DA4D-DA14-703D-40B739F730C1}"/>
              </a:ext>
            </a:extLst>
          </p:cNvPr>
          <p:cNvSpPr>
            <a:spLocks noGrp="1"/>
          </p:cNvSpPr>
          <p:nvPr>
            <p:ph type="title"/>
          </p:nvPr>
        </p:nvSpPr>
        <p:spPr/>
        <p:txBody>
          <a:bodyPr/>
          <a:lstStyle/>
          <a:p>
            <a:r>
              <a:rPr lang="en-IN" dirty="0"/>
              <a:t>CO-2 — Control Flow Statements :</a:t>
            </a:r>
          </a:p>
        </p:txBody>
      </p:sp>
      <p:sp>
        <p:nvSpPr>
          <p:cNvPr id="3" name="Content Placeholder 2">
            <a:extLst>
              <a:ext uri="{FF2B5EF4-FFF2-40B4-BE49-F238E27FC236}">
                <a16:creationId xmlns:a16="http://schemas.microsoft.com/office/drawing/2014/main" id="{3CAC3032-3423-E8D2-C21B-CDFEA85DFEA7}"/>
              </a:ext>
            </a:extLst>
          </p:cNvPr>
          <p:cNvSpPr>
            <a:spLocks noGrp="1"/>
          </p:cNvSpPr>
          <p:nvPr>
            <p:ph idx="1"/>
          </p:nvPr>
        </p:nvSpPr>
        <p:spPr>
          <a:xfrm>
            <a:off x="838200" y="1972351"/>
            <a:ext cx="10515600" cy="4160520"/>
          </a:xfrm>
        </p:spPr>
        <p:txBody>
          <a:bodyPr>
            <a:normAutofit fontScale="62500" lnSpcReduction="20000"/>
          </a:bodyPr>
          <a:lstStyle/>
          <a:p>
            <a:pPr lvl="0"/>
            <a:r>
              <a:rPr lang="en-IN" b="1" dirty="0">
                <a:latin typeface="Bell MT" panose="02020503060305020303" pitchFamily="18" charset="0"/>
              </a:rPr>
              <a:t>if Statement:</a:t>
            </a:r>
            <a:r>
              <a:rPr lang="en-IN" dirty="0">
                <a:latin typeface="Bell MT" panose="02020503060305020303" pitchFamily="18" charset="0"/>
              </a:rPr>
              <a:t> Checks whether the user wants to continue booking.</a:t>
            </a:r>
          </a:p>
          <a:p>
            <a:pPr lvl="0"/>
            <a:r>
              <a:rPr lang="en-IN" b="1" dirty="0">
                <a:latin typeface="Bell MT" panose="02020503060305020303" pitchFamily="18" charset="0"/>
              </a:rPr>
              <a:t>if-else Statement:</a:t>
            </a:r>
            <a:r>
              <a:rPr lang="en-IN" dirty="0">
                <a:latin typeface="Bell MT" panose="02020503060305020303" pitchFamily="18" charset="0"/>
              </a:rPr>
              <a:t> Checks whether a selected seat is already booked.</a:t>
            </a:r>
          </a:p>
          <a:p>
            <a:pPr lvl="0"/>
            <a:r>
              <a:rPr lang="en-IN" b="1" dirty="0">
                <a:latin typeface="Bell MT" panose="02020503060305020303" pitchFamily="18" charset="0"/>
              </a:rPr>
              <a:t>Nested-if:</a:t>
            </a:r>
            <a:r>
              <a:rPr lang="en-IN" dirty="0">
                <a:latin typeface="Bell MT" panose="02020503060305020303" pitchFamily="18" charset="0"/>
              </a:rPr>
              <a:t> Validates seat rows and columns.</a:t>
            </a:r>
          </a:p>
          <a:p>
            <a:pPr lvl="0"/>
            <a:r>
              <a:rPr lang="en-IN" b="1" dirty="0">
                <a:latin typeface="Bell MT" panose="02020503060305020303" pitchFamily="18" charset="0"/>
              </a:rPr>
              <a:t>if-else-if Ladder:</a:t>
            </a:r>
            <a:r>
              <a:rPr lang="en-IN" dirty="0">
                <a:latin typeface="Bell MT" panose="02020503060305020303" pitchFamily="18" charset="0"/>
              </a:rPr>
              <a:t> Validates the selected movie.</a:t>
            </a:r>
          </a:p>
          <a:p>
            <a:pPr lvl="0"/>
            <a:r>
              <a:rPr lang="en-IN" b="1" dirty="0">
                <a:latin typeface="Bell MT" panose="02020503060305020303" pitchFamily="18" charset="0"/>
              </a:rPr>
              <a:t>switch Statement:</a:t>
            </a:r>
            <a:r>
              <a:rPr lang="en-IN" dirty="0">
                <a:latin typeface="Bell MT" panose="02020503060305020303" pitchFamily="18" charset="0"/>
              </a:rPr>
              <a:t> Handles snack selection.</a:t>
            </a:r>
          </a:p>
          <a:p>
            <a:pPr lvl="0"/>
            <a:r>
              <a:rPr lang="en-IN" b="1" dirty="0">
                <a:latin typeface="Bell MT" panose="02020503060305020303" pitchFamily="18" charset="0"/>
              </a:rPr>
              <a:t>default and break:</a:t>
            </a:r>
            <a:r>
              <a:rPr lang="en-IN" dirty="0">
                <a:latin typeface="Bell MT" panose="02020503060305020303" pitchFamily="18" charset="0"/>
              </a:rPr>
              <a:t> Handle invalid snack choices and control execution.</a:t>
            </a:r>
          </a:p>
          <a:p>
            <a:pPr lvl="0"/>
            <a:r>
              <a:rPr lang="en-IN" b="1" dirty="0">
                <a:latin typeface="Bell MT" panose="02020503060305020303" pitchFamily="18" charset="0"/>
              </a:rPr>
              <a:t>while Loop:</a:t>
            </a:r>
            <a:r>
              <a:rPr lang="en-IN" dirty="0">
                <a:latin typeface="Bell MT" panose="02020503060305020303" pitchFamily="18" charset="0"/>
              </a:rPr>
              <a:t> Repeats the booking process.</a:t>
            </a:r>
          </a:p>
          <a:p>
            <a:pPr lvl="0"/>
            <a:r>
              <a:rPr lang="en-IN" b="1" dirty="0">
                <a:latin typeface="Bell MT" panose="02020503060305020303" pitchFamily="18" charset="0"/>
              </a:rPr>
              <a:t>for Loop:</a:t>
            </a:r>
            <a:r>
              <a:rPr lang="en-IN" dirty="0">
                <a:latin typeface="Bell MT" panose="02020503060305020303" pitchFamily="18" charset="0"/>
              </a:rPr>
              <a:t> Displays movies and seat layouts.</a:t>
            </a:r>
          </a:p>
          <a:p>
            <a:pPr lvl="0"/>
            <a:r>
              <a:rPr lang="en-IN" b="1" dirty="0">
                <a:latin typeface="Bell MT" panose="02020503060305020303" pitchFamily="18" charset="0"/>
              </a:rPr>
              <a:t>continue:</a:t>
            </a:r>
            <a:r>
              <a:rPr lang="en-IN" dirty="0">
                <a:latin typeface="Bell MT" panose="02020503060305020303" pitchFamily="18" charset="0"/>
              </a:rPr>
              <a:t> Skips the remaining booking steps when a seat is unavailable.</a:t>
            </a:r>
          </a:p>
          <a:p>
            <a:pPr lvl="0"/>
            <a:r>
              <a:rPr lang="en-IN" b="1" dirty="0">
                <a:latin typeface="Bell MT" panose="02020503060305020303" pitchFamily="18" charset="0"/>
              </a:rPr>
              <a:t>Nested Loops:</a:t>
            </a:r>
            <a:r>
              <a:rPr lang="en-IN" dirty="0">
                <a:latin typeface="Bell MT" panose="02020503060305020303" pitchFamily="18" charset="0"/>
              </a:rPr>
              <a:t> Display the cinema seating arrangement row by row.</a:t>
            </a:r>
          </a:p>
          <a:p>
            <a:pPr lvl="0"/>
            <a:r>
              <a:rPr lang="en-IN" b="1" dirty="0">
                <a:latin typeface="Bell MT" panose="02020503060305020303" pitchFamily="18" charset="0"/>
              </a:rPr>
              <a:t>Compound Statements:</a:t>
            </a:r>
            <a:r>
              <a:rPr lang="en-IN" dirty="0">
                <a:latin typeface="Bell MT" panose="02020503060305020303" pitchFamily="18" charset="0"/>
              </a:rPr>
              <a:t> Group related statements using curly braces.</a:t>
            </a:r>
          </a:p>
          <a:p>
            <a:r>
              <a:rPr lang="en-IN" b="1" dirty="0">
                <a:latin typeface="Bell MT" panose="02020503060305020303" pitchFamily="18" charset="0"/>
              </a:rPr>
              <a:t>Application:</a:t>
            </a:r>
            <a:r>
              <a:rPr lang="en-IN" dirty="0">
                <a:latin typeface="Bell MT" panose="02020503060305020303" pitchFamily="18" charset="0"/>
              </a:rPr>
              <a:t> Control flow manages user choices, validates inputs, and repeats the booking process.</a:t>
            </a:r>
          </a:p>
          <a:p>
            <a:endParaRPr lang="en-IN" dirty="0"/>
          </a:p>
        </p:txBody>
      </p:sp>
    </p:spTree>
    <p:extLst>
      <p:ext uri="{BB962C8B-B14F-4D97-AF65-F5344CB8AC3E}">
        <p14:creationId xmlns:p14="http://schemas.microsoft.com/office/powerpoint/2010/main" val="255909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B467-5827-000C-D4A7-6C814211B482}"/>
              </a:ext>
            </a:extLst>
          </p:cNvPr>
          <p:cNvSpPr>
            <a:spLocks noGrp="1"/>
          </p:cNvSpPr>
          <p:nvPr>
            <p:ph type="title"/>
          </p:nvPr>
        </p:nvSpPr>
        <p:spPr/>
        <p:txBody>
          <a:bodyPr/>
          <a:lstStyle/>
          <a:p>
            <a:r>
              <a:rPr lang="en-IN" dirty="0"/>
              <a:t>CO-3 — Methods, Recursion and Arrays :</a:t>
            </a:r>
          </a:p>
        </p:txBody>
      </p:sp>
      <p:sp>
        <p:nvSpPr>
          <p:cNvPr id="3" name="Content Placeholder 2">
            <a:extLst>
              <a:ext uri="{FF2B5EF4-FFF2-40B4-BE49-F238E27FC236}">
                <a16:creationId xmlns:a16="http://schemas.microsoft.com/office/drawing/2014/main" id="{7EF436CE-1EC6-E76C-685D-D5C3D8DCB58A}"/>
              </a:ext>
            </a:extLst>
          </p:cNvPr>
          <p:cNvSpPr>
            <a:spLocks noGrp="1"/>
          </p:cNvSpPr>
          <p:nvPr>
            <p:ph idx="1"/>
          </p:nvPr>
        </p:nvSpPr>
        <p:spPr/>
        <p:txBody>
          <a:bodyPr>
            <a:normAutofit fontScale="77500" lnSpcReduction="20000"/>
          </a:bodyPr>
          <a:lstStyle/>
          <a:p>
            <a:pPr lvl="0"/>
            <a:r>
              <a:rPr lang="en-IN" b="1" dirty="0">
                <a:latin typeface="Bell MT" panose="02020503060305020303" pitchFamily="18" charset="0"/>
              </a:rPr>
              <a:t>Modular Programming:</a:t>
            </a:r>
            <a:r>
              <a:rPr lang="en-IN" dirty="0">
                <a:latin typeface="Bell MT" panose="02020503060305020303" pitchFamily="18" charset="0"/>
              </a:rPr>
              <a:t> Divides the program into separate methods.</a:t>
            </a:r>
          </a:p>
          <a:p>
            <a:pPr lvl="0"/>
            <a:r>
              <a:rPr lang="en-IN" b="1" dirty="0">
                <a:latin typeface="Bell MT" panose="02020503060305020303" pitchFamily="18" charset="0"/>
              </a:rPr>
              <a:t>Method Definition and Invocation:</a:t>
            </a:r>
            <a:r>
              <a:rPr lang="en-IN" dirty="0">
                <a:latin typeface="Bell MT" panose="02020503060305020303" pitchFamily="18" charset="0"/>
              </a:rPr>
              <a:t> </a:t>
            </a:r>
            <a:r>
              <a:rPr lang="en-IN" dirty="0" err="1">
                <a:latin typeface="Bell MT" panose="02020503060305020303" pitchFamily="18" charset="0"/>
              </a:rPr>
              <a:t>displayMovies</a:t>
            </a:r>
            <a:r>
              <a:rPr lang="en-IN" dirty="0">
                <a:latin typeface="Bell MT" panose="02020503060305020303" pitchFamily="18" charset="0"/>
              </a:rPr>
              <a:t>(), </a:t>
            </a:r>
            <a:r>
              <a:rPr lang="en-IN" dirty="0" err="1">
                <a:latin typeface="Bell MT" panose="02020503060305020303" pitchFamily="18" charset="0"/>
              </a:rPr>
              <a:t>displaySeats</a:t>
            </a:r>
            <a:r>
              <a:rPr lang="en-IN" dirty="0">
                <a:latin typeface="Bell MT" panose="02020503060305020303" pitchFamily="18" charset="0"/>
              </a:rPr>
              <a:t>(), and </a:t>
            </a:r>
            <a:r>
              <a:rPr lang="en-IN" dirty="0" err="1">
                <a:latin typeface="Bell MT" panose="02020503060305020303" pitchFamily="18" charset="0"/>
              </a:rPr>
              <a:t>countAvailableSeats</a:t>
            </a:r>
            <a:r>
              <a:rPr lang="en-IN" dirty="0">
                <a:latin typeface="Bell MT" panose="02020503060305020303" pitchFamily="18" charset="0"/>
              </a:rPr>
              <a:t>() perform specific tasks.</a:t>
            </a:r>
          </a:p>
          <a:p>
            <a:pPr lvl="0"/>
            <a:r>
              <a:rPr lang="en-IN" b="1" dirty="0">
                <a:latin typeface="Bell MT" panose="02020503060305020303" pitchFamily="18" charset="0"/>
              </a:rPr>
              <a:t>Return Values:</a:t>
            </a:r>
            <a:r>
              <a:rPr lang="en-IN" dirty="0">
                <a:latin typeface="Bell MT" panose="02020503060305020303" pitchFamily="18" charset="0"/>
              </a:rPr>
              <a:t> </a:t>
            </a:r>
            <a:r>
              <a:rPr lang="en-IN" dirty="0" err="1">
                <a:latin typeface="Bell MT" panose="02020503060305020303" pitchFamily="18" charset="0"/>
              </a:rPr>
              <a:t>countAvailableSeats</a:t>
            </a:r>
            <a:r>
              <a:rPr lang="en-IN" dirty="0">
                <a:latin typeface="Bell MT" panose="02020503060305020303" pitchFamily="18" charset="0"/>
              </a:rPr>
              <a:t>() returns the number of available seats.</a:t>
            </a:r>
          </a:p>
          <a:p>
            <a:pPr lvl="0"/>
            <a:r>
              <a:rPr lang="en-IN" b="1" dirty="0">
                <a:latin typeface="Bell MT" panose="02020503060305020303" pitchFamily="18" charset="0"/>
              </a:rPr>
              <a:t>1D Arrays:</a:t>
            </a:r>
            <a:r>
              <a:rPr lang="en-IN" dirty="0">
                <a:latin typeface="Bell MT" panose="02020503060305020303" pitchFamily="18" charset="0"/>
              </a:rPr>
              <a:t> movies[] stores movie names, while prices[] stores ticket prices.</a:t>
            </a:r>
          </a:p>
          <a:p>
            <a:pPr lvl="0"/>
            <a:r>
              <a:rPr lang="en-IN" b="1" dirty="0">
                <a:latin typeface="Bell MT" panose="02020503060305020303" pitchFamily="18" charset="0"/>
              </a:rPr>
              <a:t>2D Arrays:</a:t>
            </a:r>
            <a:r>
              <a:rPr lang="en-IN" dirty="0">
                <a:latin typeface="Bell MT" panose="02020503060305020303" pitchFamily="18" charset="0"/>
              </a:rPr>
              <a:t> seats[][] represents the cinema seating arrangement.</a:t>
            </a:r>
          </a:p>
          <a:p>
            <a:pPr lvl="0"/>
            <a:r>
              <a:rPr lang="en-IN" b="1" dirty="0">
                <a:latin typeface="Bell MT" panose="02020503060305020303" pitchFamily="18" charset="0"/>
              </a:rPr>
              <a:t>Array Traversal:</a:t>
            </a:r>
            <a:r>
              <a:rPr lang="en-IN" dirty="0">
                <a:latin typeface="Bell MT" panose="02020503060305020303" pitchFamily="18" charset="0"/>
              </a:rPr>
              <a:t> Loops access movie and seat information.</a:t>
            </a:r>
          </a:p>
          <a:p>
            <a:pPr lvl="0"/>
            <a:r>
              <a:rPr lang="en-IN" b="1" dirty="0">
                <a:latin typeface="Bell MT" panose="02020503060305020303" pitchFamily="18" charset="0"/>
              </a:rPr>
              <a:t>Enhanced for-each Loop:</a:t>
            </a:r>
            <a:r>
              <a:rPr lang="en-IN" dirty="0">
                <a:latin typeface="Bell MT" panose="02020503060305020303" pitchFamily="18" charset="0"/>
              </a:rPr>
              <a:t> Traverses rows and seats when counting available seats.</a:t>
            </a:r>
          </a:p>
          <a:p>
            <a:pPr lvl="0"/>
            <a:r>
              <a:rPr lang="en-IN" b="1" dirty="0">
                <a:latin typeface="Bell MT" panose="02020503060305020303" pitchFamily="18" charset="0"/>
              </a:rPr>
              <a:t>Counting Techniques:</a:t>
            </a:r>
            <a:r>
              <a:rPr lang="en-IN" dirty="0">
                <a:latin typeface="Bell MT" panose="02020503060305020303" pitchFamily="18" charset="0"/>
              </a:rPr>
              <a:t> Counts the seats that remain available.</a:t>
            </a:r>
          </a:p>
          <a:p>
            <a:r>
              <a:rPr lang="en-IN" b="1" dirty="0">
                <a:latin typeface="Bell MT" panose="02020503060305020303" pitchFamily="18" charset="0"/>
              </a:rPr>
              <a:t>Application:</a:t>
            </a:r>
            <a:r>
              <a:rPr lang="en-IN" dirty="0">
                <a:latin typeface="Bell MT" panose="02020503060305020303" pitchFamily="18" charset="0"/>
              </a:rPr>
              <a:t> Methods and arrays organize movie details and track seat availability.</a:t>
            </a:r>
          </a:p>
          <a:p>
            <a:endParaRPr lang="en-IN" dirty="0"/>
          </a:p>
        </p:txBody>
      </p:sp>
    </p:spTree>
    <p:extLst>
      <p:ext uri="{BB962C8B-B14F-4D97-AF65-F5344CB8AC3E}">
        <p14:creationId xmlns:p14="http://schemas.microsoft.com/office/powerpoint/2010/main" val="3761119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CABE8-5B34-BB5B-D551-384B7394E844}"/>
              </a:ext>
            </a:extLst>
          </p:cNvPr>
          <p:cNvSpPr>
            <a:spLocks noGrp="1"/>
          </p:cNvSpPr>
          <p:nvPr>
            <p:ph type="title"/>
          </p:nvPr>
        </p:nvSpPr>
        <p:spPr/>
        <p:txBody>
          <a:bodyPr/>
          <a:lstStyle/>
          <a:p>
            <a:r>
              <a:rPr lang="en-IN" dirty="0"/>
              <a:t>CO-4  — Strings :</a:t>
            </a:r>
          </a:p>
        </p:txBody>
      </p:sp>
      <p:sp>
        <p:nvSpPr>
          <p:cNvPr id="3" name="Content Placeholder 2">
            <a:extLst>
              <a:ext uri="{FF2B5EF4-FFF2-40B4-BE49-F238E27FC236}">
                <a16:creationId xmlns:a16="http://schemas.microsoft.com/office/drawing/2014/main" id="{6FF0041E-0580-5201-8EA4-B72CAD75DEA5}"/>
              </a:ext>
            </a:extLst>
          </p:cNvPr>
          <p:cNvSpPr>
            <a:spLocks noGrp="1"/>
          </p:cNvSpPr>
          <p:nvPr>
            <p:ph idx="1"/>
          </p:nvPr>
        </p:nvSpPr>
        <p:spPr>
          <a:xfrm>
            <a:off x="838200" y="1893693"/>
            <a:ext cx="10515600" cy="4160520"/>
          </a:xfrm>
        </p:spPr>
        <p:txBody>
          <a:bodyPr>
            <a:normAutofit fontScale="92500" lnSpcReduction="20000"/>
          </a:bodyPr>
          <a:lstStyle/>
          <a:p>
            <a:pPr lvl="0"/>
            <a:r>
              <a:rPr lang="en-IN" b="1" dirty="0">
                <a:latin typeface="Bell MT" panose="02020503060305020303" pitchFamily="18" charset="0"/>
              </a:rPr>
              <a:t>String Declaration:</a:t>
            </a:r>
            <a:r>
              <a:rPr lang="en-IN" dirty="0">
                <a:latin typeface="Bell MT" panose="02020503060305020303" pitchFamily="18" charset="0"/>
              </a:rPr>
              <a:t> String </a:t>
            </a:r>
            <a:r>
              <a:rPr lang="en-IN" dirty="0" err="1">
                <a:latin typeface="Bell MT" panose="02020503060305020303" pitchFamily="18" charset="0"/>
              </a:rPr>
              <a:t>customerName</a:t>
            </a:r>
            <a:r>
              <a:rPr lang="en-IN" dirty="0">
                <a:latin typeface="Bell MT" panose="02020503060305020303" pitchFamily="18" charset="0"/>
              </a:rPr>
              <a:t> stores the customer's name.</a:t>
            </a:r>
          </a:p>
          <a:p>
            <a:pPr lvl="0"/>
            <a:r>
              <a:rPr lang="en-IN" b="1" dirty="0">
                <a:latin typeface="Bell MT" panose="02020503060305020303" pitchFamily="18" charset="0"/>
              </a:rPr>
              <a:t>String Arrays:</a:t>
            </a:r>
            <a:r>
              <a:rPr lang="en-IN" dirty="0">
                <a:latin typeface="Bell MT" panose="02020503060305020303" pitchFamily="18" charset="0"/>
              </a:rPr>
              <a:t> movies[] stores the names of available movies.</a:t>
            </a:r>
          </a:p>
          <a:p>
            <a:pPr lvl="0"/>
            <a:r>
              <a:rPr lang="en-IN" b="1" dirty="0">
                <a:latin typeface="Bell MT" panose="02020503060305020303" pitchFamily="18" charset="0"/>
              </a:rPr>
              <a:t>trim():</a:t>
            </a:r>
            <a:r>
              <a:rPr lang="en-IN" dirty="0">
                <a:latin typeface="Bell MT" panose="02020503060305020303" pitchFamily="18" charset="0"/>
              </a:rPr>
              <a:t> Removes leading and trailing spaces from input.</a:t>
            </a:r>
          </a:p>
          <a:p>
            <a:pPr lvl="0"/>
            <a:r>
              <a:rPr lang="en-IN" b="1" dirty="0" err="1">
                <a:latin typeface="Bell MT" panose="02020503060305020303" pitchFamily="18" charset="0"/>
              </a:rPr>
              <a:t>isEmpty</a:t>
            </a:r>
            <a:r>
              <a:rPr lang="en-IN" b="1" dirty="0">
                <a:latin typeface="Bell MT" panose="02020503060305020303" pitchFamily="18" charset="0"/>
              </a:rPr>
              <a:t>():</a:t>
            </a:r>
            <a:r>
              <a:rPr lang="en-IN" dirty="0">
                <a:latin typeface="Bell MT" panose="02020503060305020303" pitchFamily="18" charset="0"/>
              </a:rPr>
              <a:t> Checks whether the customer name is empty.</a:t>
            </a:r>
          </a:p>
          <a:p>
            <a:pPr lvl="0"/>
            <a:r>
              <a:rPr lang="en-IN" b="1" dirty="0" err="1">
                <a:latin typeface="Bell MT" panose="02020503060305020303" pitchFamily="18" charset="0"/>
              </a:rPr>
              <a:t>toUpperCase</a:t>
            </a:r>
            <a:r>
              <a:rPr lang="en-IN" b="1" dirty="0">
                <a:latin typeface="Bell MT" panose="02020503060305020303" pitchFamily="18" charset="0"/>
              </a:rPr>
              <a:t>():</a:t>
            </a:r>
            <a:r>
              <a:rPr lang="en-IN" dirty="0">
                <a:latin typeface="Bell MT" panose="02020503060305020303" pitchFamily="18" charset="0"/>
              </a:rPr>
              <a:t> Displays the movie name in uppercase.</a:t>
            </a:r>
          </a:p>
          <a:p>
            <a:pPr lvl="0"/>
            <a:r>
              <a:rPr lang="en-IN" b="1" dirty="0" err="1">
                <a:latin typeface="Bell MT" panose="02020503060305020303" pitchFamily="18" charset="0"/>
              </a:rPr>
              <a:t>charAt</a:t>
            </a:r>
            <a:r>
              <a:rPr lang="en-IN" b="1" dirty="0">
                <a:latin typeface="Bell MT" panose="02020503060305020303" pitchFamily="18" charset="0"/>
              </a:rPr>
              <a:t>():</a:t>
            </a:r>
            <a:r>
              <a:rPr lang="en-IN" dirty="0">
                <a:latin typeface="Bell MT" panose="02020503060305020303" pitchFamily="18" charset="0"/>
              </a:rPr>
              <a:t> Extracts the snack selection character.</a:t>
            </a:r>
          </a:p>
          <a:p>
            <a:pPr lvl="0"/>
            <a:r>
              <a:rPr lang="en-IN" b="1" dirty="0">
                <a:latin typeface="Bell MT" panose="02020503060305020303" pitchFamily="18" charset="0"/>
              </a:rPr>
              <a:t>String Concatenation:</a:t>
            </a:r>
            <a:r>
              <a:rPr lang="en-IN" dirty="0">
                <a:latin typeface="Bell MT" panose="02020503060305020303" pitchFamily="18" charset="0"/>
              </a:rPr>
              <a:t> The + operator combines text with booking details.</a:t>
            </a:r>
          </a:p>
          <a:p>
            <a:r>
              <a:rPr lang="en-IN" b="1" dirty="0">
                <a:latin typeface="Bell MT" panose="02020503060305020303" pitchFamily="18" charset="0"/>
              </a:rPr>
              <a:t>Application:</a:t>
            </a:r>
            <a:r>
              <a:rPr lang="en-IN" dirty="0">
                <a:latin typeface="Bell MT" panose="02020503060305020303" pitchFamily="18" charset="0"/>
              </a:rPr>
              <a:t> String operations process customer information and display readable booking confirmations.</a:t>
            </a:r>
          </a:p>
          <a:p>
            <a:endParaRPr lang="en-IN" dirty="0"/>
          </a:p>
        </p:txBody>
      </p:sp>
    </p:spTree>
    <p:extLst>
      <p:ext uri="{BB962C8B-B14F-4D97-AF65-F5344CB8AC3E}">
        <p14:creationId xmlns:p14="http://schemas.microsoft.com/office/powerpoint/2010/main" val="10024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E3A97-CA19-BE54-8865-79BE638BFE12}"/>
              </a:ext>
            </a:extLst>
          </p:cNvPr>
          <p:cNvSpPr>
            <a:spLocks noGrp="1"/>
          </p:cNvSpPr>
          <p:nvPr>
            <p:ph type="title"/>
          </p:nvPr>
        </p:nvSpPr>
        <p:spPr/>
        <p:txBody>
          <a:bodyPr/>
          <a:lstStyle/>
          <a:p>
            <a:r>
              <a:rPr lang="en-IN" b="1" dirty="0"/>
              <a:t>CO-5  — Exception Handling :</a:t>
            </a:r>
            <a:br>
              <a:rPr lang="en-IN" b="1" dirty="0"/>
            </a:br>
            <a:endParaRPr lang="en-IN" dirty="0"/>
          </a:p>
        </p:txBody>
      </p:sp>
      <p:sp>
        <p:nvSpPr>
          <p:cNvPr id="3" name="Content Placeholder 2">
            <a:extLst>
              <a:ext uri="{FF2B5EF4-FFF2-40B4-BE49-F238E27FC236}">
                <a16:creationId xmlns:a16="http://schemas.microsoft.com/office/drawing/2014/main" id="{237C5B9B-C0C8-D6BA-6E07-3CD7EFB02B68}"/>
              </a:ext>
            </a:extLst>
          </p:cNvPr>
          <p:cNvSpPr>
            <a:spLocks noGrp="1"/>
          </p:cNvSpPr>
          <p:nvPr>
            <p:ph idx="1"/>
          </p:nvPr>
        </p:nvSpPr>
        <p:spPr/>
        <p:txBody>
          <a:bodyPr>
            <a:normAutofit fontScale="92500" lnSpcReduction="20000"/>
          </a:bodyPr>
          <a:lstStyle/>
          <a:p>
            <a:pPr lvl="0"/>
            <a:r>
              <a:rPr lang="en-IN" b="1" dirty="0">
                <a:latin typeface="Bell MT" panose="02020503060305020303" pitchFamily="18" charset="0"/>
              </a:rPr>
              <a:t>try Block:</a:t>
            </a:r>
            <a:r>
              <a:rPr lang="en-IN" dirty="0">
                <a:latin typeface="Bell MT" panose="02020503060305020303" pitchFamily="18" charset="0"/>
              </a:rPr>
              <a:t> Contains the main booking operations.</a:t>
            </a:r>
          </a:p>
          <a:p>
            <a:pPr lvl="0"/>
            <a:r>
              <a:rPr lang="en-IN" b="1" dirty="0">
                <a:latin typeface="Bell MT" panose="02020503060305020303" pitchFamily="18" charset="0"/>
              </a:rPr>
              <a:t>catch Block:</a:t>
            </a:r>
            <a:r>
              <a:rPr lang="en-IN" dirty="0">
                <a:latin typeface="Bell MT" panose="02020503060305020303" pitchFamily="18" charset="0"/>
              </a:rPr>
              <a:t> Handles errors that occur during execution.</a:t>
            </a:r>
          </a:p>
          <a:p>
            <a:pPr lvl="0"/>
            <a:r>
              <a:rPr lang="en-IN" b="1" dirty="0" err="1">
                <a:latin typeface="Bell MT" panose="02020503060305020303" pitchFamily="18" charset="0"/>
              </a:rPr>
              <a:t>NumberFormatException</a:t>
            </a:r>
            <a:r>
              <a:rPr lang="en-IN" b="1" dirty="0">
                <a:latin typeface="Bell MT" panose="02020503060305020303" pitchFamily="18" charset="0"/>
              </a:rPr>
              <a:t>:</a:t>
            </a:r>
            <a:r>
              <a:rPr lang="en-IN" dirty="0">
                <a:latin typeface="Bell MT" panose="02020503060305020303" pitchFamily="18" charset="0"/>
              </a:rPr>
              <a:t> Handles invalid numeric input when converting text to numbers.</a:t>
            </a:r>
          </a:p>
          <a:p>
            <a:pPr lvl="0"/>
            <a:r>
              <a:rPr lang="en-IN" b="1" dirty="0" err="1">
                <a:latin typeface="Bell MT" panose="02020503060305020303" pitchFamily="18" charset="0"/>
              </a:rPr>
              <a:t>IllegalArgumentException</a:t>
            </a:r>
            <a:r>
              <a:rPr lang="en-IN" b="1" dirty="0">
                <a:latin typeface="Bell MT" panose="02020503060305020303" pitchFamily="18" charset="0"/>
              </a:rPr>
              <a:t>:</a:t>
            </a:r>
            <a:r>
              <a:rPr lang="en-IN" dirty="0">
                <a:latin typeface="Bell MT" panose="02020503060305020303" pitchFamily="18" charset="0"/>
              </a:rPr>
              <a:t> Handles invalid movie selections, seat coordinates, and empty customer names.</a:t>
            </a:r>
          </a:p>
          <a:p>
            <a:pPr lvl="0"/>
            <a:r>
              <a:rPr lang="en-IN" b="1" dirty="0">
                <a:latin typeface="Bell MT" panose="02020503060305020303" pitchFamily="18" charset="0"/>
              </a:rPr>
              <a:t>finally Block:</a:t>
            </a:r>
            <a:r>
              <a:rPr lang="en-IN" dirty="0">
                <a:latin typeface="Bell MT" panose="02020503060305020303" pitchFamily="18" charset="0"/>
              </a:rPr>
              <a:t> Displays the final message, shows available seats, and closes the Scanner.</a:t>
            </a:r>
          </a:p>
          <a:p>
            <a:r>
              <a:rPr lang="en-IN" b="1" dirty="0">
                <a:latin typeface="Bell MT" panose="02020503060305020303" pitchFamily="18" charset="0"/>
              </a:rPr>
              <a:t>Application:</a:t>
            </a:r>
            <a:r>
              <a:rPr lang="en-IN" dirty="0">
                <a:latin typeface="Bell MT" panose="02020503060305020303" pitchFamily="18" charset="0"/>
              </a:rPr>
              <a:t> Exception handling helps the program respond to invalid inputs instead of terminating unexpectedly for the handled errors.</a:t>
            </a:r>
          </a:p>
          <a:p>
            <a:endParaRPr lang="en-IN" dirty="0"/>
          </a:p>
        </p:txBody>
      </p:sp>
    </p:spTree>
    <p:extLst>
      <p:ext uri="{BB962C8B-B14F-4D97-AF65-F5344CB8AC3E}">
        <p14:creationId xmlns:p14="http://schemas.microsoft.com/office/powerpoint/2010/main" val="3694096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AFCEB-794C-7335-D491-B582BB3FA9CD}"/>
              </a:ext>
            </a:extLst>
          </p:cNvPr>
          <p:cNvSpPr>
            <a:spLocks noGrp="1"/>
          </p:cNvSpPr>
          <p:nvPr>
            <p:ph type="title"/>
          </p:nvPr>
        </p:nvSpPr>
        <p:spPr/>
        <p:txBody>
          <a:bodyPr/>
          <a:lstStyle/>
          <a:p>
            <a:r>
              <a:rPr lang="en-IN" dirty="0"/>
              <a:t>CO-6  — </a:t>
            </a:r>
            <a:r>
              <a:rPr lang="en-IN" dirty="0" err="1"/>
              <a:t>StringBuffer</a:t>
            </a:r>
            <a:r>
              <a:rPr lang="en-IN" dirty="0"/>
              <a:t> :</a:t>
            </a:r>
          </a:p>
        </p:txBody>
      </p:sp>
      <p:sp>
        <p:nvSpPr>
          <p:cNvPr id="3" name="Content Placeholder 2">
            <a:extLst>
              <a:ext uri="{FF2B5EF4-FFF2-40B4-BE49-F238E27FC236}">
                <a16:creationId xmlns:a16="http://schemas.microsoft.com/office/drawing/2014/main" id="{81A03C9B-9883-84BB-7726-85272479FC5F}"/>
              </a:ext>
            </a:extLst>
          </p:cNvPr>
          <p:cNvSpPr>
            <a:spLocks noGrp="1"/>
          </p:cNvSpPr>
          <p:nvPr>
            <p:ph idx="1"/>
          </p:nvPr>
        </p:nvSpPr>
        <p:spPr/>
        <p:txBody>
          <a:bodyPr>
            <a:normAutofit fontScale="85000" lnSpcReduction="10000"/>
          </a:bodyPr>
          <a:lstStyle/>
          <a:p>
            <a:pPr lvl="0"/>
            <a:r>
              <a:rPr lang="en-IN" b="1" dirty="0" err="1">
                <a:latin typeface="Bell MT" panose="02020503060305020303" pitchFamily="18" charset="0"/>
              </a:rPr>
              <a:t>StringBuffer</a:t>
            </a:r>
            <a:r>
              <a:rPr lang="en-IN" b="1" dirty="0">
                <a:latin typeface="Bell MT" panose="02020503060305020303" pitchFamily="18" charset="0"/>
              </a:rPr>
              <a:t> Declaration:</a:t>
            </a:r>
            <a:r>
              <a:rPr lang="en-IN" dirty="0">
                <a:latin typeface="Bell MT" panose="02020503060305020303" pitchFamily="18" charset="0"/>
              </a:rPr>
              <a:t> </a:t>
            </a:r>
            <a:r>
              <a:rPr lang="en-IN" dirty="0" err="1">
                <a:latin typeface="Bell MT" panose="02020503060305020303" pitchFamily="18" charset="0"/>
              </a:rPr>
              <a:t>StringBuffer</a:t>
            </a:r>
            <a:r>
              <a:rPr lang="en-IN" dirty="0">
                <a:latin typeface="Bell MT" panose="02020503060305020303" pitchFamily="18" charset="0"/>
              </a:rPr>
              <a:t> </a:t>
            </a:r>
            <a:r>
              <a:rPr lang="en-IN" dirty="0" err="1">
                <a:latin typeface="Bell MT" panose="02020503060305020303" pitchFamily="18" charset="0"/>
              </a:rPr>
              <a:t>bookingSummary</a:t>
            </a:r>
            <a:r>
              <a:rPr lang="en-IN" dirty="0">
                <a:latin typeface="Bell MT" panose="02020503060305020303" pitchFamily="18" charset="0"/>
              </a:rPr>
              <a:t> stores booking details.</a:t>
            </a:r>
          </a:p>
          <a:p>
            <a:pPr lvl="0"/>
            <a:r>
              <a:rPr lang="en-IN" b="1" dirty="0">
                <a:latin typeface="Bell MT" panose="02020503060305020303" pitchFamily="18" charset="0"/>
              </a:rPr>
              <a:t>Object Creation:</a:t>
            </a:r>
            <a:r>
              <a:rPr lang="en-IN" dirty="0">
                <a:latin typeface="Bell MT" panose="02020503060305020303" pitchFamily="18" charset="0"/>
              </a:rPr>
              <a:t> new </a:t>
            </a:r>
            <a:r>
              <a:rPr lang="en-IN" dirty="0" err="1">
                <a:latin typeface="Bell MT" panose="02020503060305020303" pitchFamily="18" charset="0"/>
              </a:rPr>
              <a:t>StringBuffer</a:t>
            </a:r>
            <a:r>
              <a:rPr lang="en-IN" dirty="0">
                <a:latin typeface="Bell MT" panose="02020503060305020303" pitchFamily="18" charset="0"/>
              </a:rPr>
              <a:t>() creates a mutable string object.</a:t>
            </a:r>
          </a:p>
          <a:p>
            <a:pPr lvl="0"/>
            <a:r>
              <a:rPr lang="en-IN" b="1" dirty="0">
                <a:latin typeface="Bell MT" panose="02020503060305020303" pitchFamily="18" charset="0"/>
              </a:rPr>
              <a:t>append() Method:</a:t>
            </a:r>
            <a:r>
              <a:rPr lang="en-IN" dirty="0">
                <a:latin typeface="Bell MT" panose="02020503060305020303" pitchFamily="18" charset="0"/>
              </a:rPr>
              <a:t> Adds customer name, movie, seat, snack, and total amount to the summary.</a:t>
            </a:r>
          </a:p>
          <a:p>
            <a:pPr lvl="0"/>
            <a:r>
              <a:rPr lang="en-IN" b="1" dirty="0">
                <a:latin typeface="Bell MT" panose="02020503060305020303" pitchFamily="18" charset="0"/>
              </a:rPr>
              <a:t>Mutable Strings:</a:t>
            </a:r>
            <a:r>
              <a:rPr lang="en-IN" dirty="0">
                <a:latin typeface="Bell MT" panose="02020503060305020303" pitchFamily="18" charset="0"/>
              </a:rPr>
              <a:t> Allows the summary to be updated as new details are added.</a:t>
            </a:r>
          </a:p>
          <a:p>
            <a:pPr lvl="0"/>
            <a:r>
              <a:rPr lang="en-IN" b="1" dirty="0">
                <a:latin typeface="Bell MT" panose="02020503060305020303" pitchFamily="18" charset="0"/>
              </a:rPr>
              <a:t>Displaying the Summary:</a:t>
            </a:r>
            <a:r>
              <a:rPr lang="en-IN" dirty="0">
                <a:latin typeface="Bell MT" panose="02020503060305020303" pitchFamily="18" charset="0"/>
              </a:rPr>
              <a:t> Prints the collected booking information at the end.</a:t>
            </a:r>
          </a:p>
          <a:p>
            <a:r>
              <a:rPr lang="en-IN" b="1" dirty="0">
                <a:latin typeface="Bell MT" panose="02020503060305020303" pitchFamily="18" charset="0"/>
              </a:rPr>
              <a:t>Application:</a:t>
            </a:r>
            <a:r>
              <a:rPr lang="en-IN" dirty="0">
                <a:latin typeface="Bell MT" panose="02020503060305020303" pitchFamily="18" charset="0"/>
              </a:rPr>
              <a:t> </a:t>
            </a:r>
            <a:r>
              <a:rPr lang="en-IN" dirty="0" err="1">
                <a:latin typeface="Bell MT" panose="02020503060305020303" pitchFamily="18" charset="0"/>
              </a:rPr>
              <a:t>StringBuffer</a:t>
            </a:r>
            <a:r>
              <a:rPr lang="en-IN" dirty="0">
                <a:latin typeface="Bell MT" panose="02020503060305020303" pitchFamily="18" charset="0"/>
              </a:rPr>
              <a:t> builds a booking summary containing the details of successful bookings.</a:t>
            </a:r>
          </a:p>
          <a:p>
            <a:endParaRPr lang="en-IN" dirty="0"/>
          </a:p>
        </p:txBody>
      </p:sp>
    </p:spTree>
    <p:extLst>
      <p:ext uri="{BB962C8B-B14F-4D97-AF65-F5344CB8AC3E}">
        <p14:creationId xmlns:p14="http://schemas.microsoft.com/office/powerpoint/2010/main" val="2282426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BBCAD-CA3E-9327-5318-7BD873BEA4DD}"/>
              </a:ext>
            </a:extLst>
          </p:cNvPr>
          <p:cNvSpPr>
            <a:spLocks noGrp="1"/>
          </p:cNvSpPr>
          <p:nvPr>
            <p:ph type="title"/>
          </p:nvPr>
        </p:nvSpPr>
        <p:spPr/>
        <p:txBody>
          <a:bodyPr/>
          <a:lstStyle/>
          <a:p>
            <a:r>
              <a:rPr lang="en-IN" dirty="0"/>
              <a:t>Output :</a:t>
            </a:r>
          </a:p>
        </p:txBody>
      </p:sp>
      <p:sp>
        <p:nvSpPr>
          <p:cNvPr id="3" name="Content Placeholder 2">
            <a:extLst>
              <a:ext uri="{FF2B5EF4-FFF2-40B4-BE49-F238E27FC236}">
                <a16:creationId xmlns:a16="http://schemas.microsoft.com/office/drawing/2014/main" id="{102D10E9-DD1B-7165-AF77-E5202FB50C63}"/>
              </a:ext>
            </a:extLst>
          </p:cNvPr>
          <p:cNvSpPr>
            <a:spLocks noGrp="1"/>
          </p:cNvSpPr>
          <p:nvPr>
            <p:ph idx="1"/>
          </p:nvPr>
        </p:nvSpPr>
        <p:spPr/>
        <p:txBody>
          <a:bodyPr>
            <a:normAutofit fontScale="85000" lnSpcReduction="20000"/>
          </a:bodyPr>
          <a:lstStyle/>
          <a:p>
            <a:r>
              <a:rPr lang="en-IN" dirty="0">
                <a:latin typeface="Bell MT" panose="02020503060305020303" pitchFamily="18" charset="0"/>
              </a:rPr>
              <a:t>The program displays:</a:t>
            </a:r>
          </a:p>
          <a:p>
            <a:pPr lvl="0"/>
            <a:r>
              <a:rPr lang="en-IN" dirty="0">
                <a:latin typeface="Bell MT" panose="02020503060305020303" pitchFamily="18" charset="0"/>
              </a:rPr>
              <a:t>Customer name </a:t>
            </a:r>
          </a:p>
          <a:p>
            <a:pPr lvl="0"/>
            <a:r>
              <a:rPr lang="en-IN" dirty="0">
                <a:latin typeface="Bell MT" panose="02020503060305020303" pitchFamily="18" charset="0"/>
              </a:rPr>
              <a:t>Available movies and ticket prices </a:t>
            </a:r>
          </a:p>
          <a:p>
            <a:pPr lvl="0"/>
            <a:r>
              <a:rPr lang="en-IN" dirty="0">
                <a:latin typeface="Bell MT" panose="02020503060305020303" pitchFamily="18" charset="0"/>
              </a:rPr>
              <a:t>Selected movie </a:t>
            </a:r>
          </a:p>
          <a:p>
            <a:pPr lvl="0"/>
            <a:r>
              <a:rPr lang="en-IN" dirty="0">
                <a:latin typeface="Bell MT" panose="02020503060305020303" pitchFamily="18" charset="0"/>
              </a:rPr>
              <a:t>Seat availability </a:t>
            </a:r>
          </a:p>
          <a:p>
            <a:pPr lvl="0"/>
            <a:r>
              <a:rPr lang="en-IN" dirty="0">
                <a:latin typeface="Bell MT" panose="02020503060305020303" pitchFamily="18" charset="0"/>
              </a:rPr>
              <a:t>Booked seat numbers </a:t>
            </a:r>
          </a:p>
          <a:p>
            <a:pPr lvl="0"/>
            <a:r>
              <a:rPr lang="en-IN" dirty="0">
                <a:latin typeface="Bell MT" panose="02020503060305020303" pitchFamily="18" charset="0"/>
              </a:rPr>
              <a:t>Ticket cost </a:t>
            </a:r>
          </a:p>
          <a:p>
            <a:pPr lvl="0"/>
            <a:r>
              <a:rPr lang="en-IN" dirty="0">
                <a:latin typeface="Bell MT" panose="02020503060305020303" pitchFamily="18" charset="0"/>
              </a:rPr>
              <a:t>Selected snacks and snack cost </a:t>
            </a:r>
          </a:p>
          <a:p>
            <a:pPr lvl="0"/>
            <a:r>
              <a:rPr lang="en-IN" dirty="0">
                <a:latin typeface="Bell MT" panose="02020503060305020303" pitchFamily="18" charset="0"/>
              </a:rPr>
              <a:t>Final amount </a:t>
            </a:r>
          </a:p>
          <a:p>
            <a:pPr lvl="0"/>
            <a:r>
              <a:rPr lang="en-IN" dirty="0">
                <a:latin typeface="Bell MT" panose="02020503060305020303" pitchFamily="18" charset="0"/>
              </a:rPr>
              <a:t>Booking confirmation</a:t>
            </a:r>
          </a:p>
          <a:p>
            <a:endParaRPr lang="en-IN" dirty="0"/>
          </a:p>
        </p:txBody>
      </p:sp>
      <p:pic>
        <p:nvPicPr>
          <p:cNvPr id="5" name="Picture 4">
            <a:extLst>
              <a:ext uri="{FF2B5EF4-FFF2-40B4-BE49-F238E27FC236}">
                <a16:creationId xmlns:a16="http://schemas.microsoft.com/office/drawing/2014/main" id="{5F608FF1-0081-EA54-BF3D-1ED6D07E3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0632" y="2249959"/>
            <a:ext cx="5375005" cy="3025048"/>
          </a:xfrm>
          <a:prstGeom prst="rect">
            <a:avLst/>
          </a:prstGeom>
        </p:spPr>
      </p:pic>
    </p:spTree>
    <p:extLst>
      <p:ext uri="{BB962C8B-B14F-4D97-AF65-F5344CB8AC3E}">
        <p14:creationId xmlns:p14="http://schemas.microsoft.com/office/powerpoint/2010/main" val="1899832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3C842-4169-4320-DE37-39383945D330}"/>
              </a:ext>
            </a:extLst>
          </p:cNvPr>
          <p:cNvSpPr>
            <a:spLocks noGrp="1"/>
          </p:cNvSpPr>
          <p:nvPr>
            <p:ph type="title"/>
          </p:nvPr>
        </p:nvSpPr>
        <p:spPr/>
        <p:txBody>
          <a:bodyPr/>
          <a:lstStyle/>
          <a:p>
            <a:r>
              <a:rPr lang="en-IN" dirty="0"/>
              <a:t>Screenshot :</a:t>
            </a:r>
          </a:p>
        </p:txBody>
      </p:sp>
      <p:pic>
        <p:nvPicPr>
          <p:cNvPr id="5" name="Content Placeholder 4">
            <a:extLst>
              <a:ext uri="{FF2B5EF4-FFF2-40B4-BE49-F238E27FC236}">
                <a16:creationId xmlns:a16="http://schemas.microsoft.com/office/drawing/2014/main" id="{18E76BF9-569A-A706-A4DB-343B86876E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9884" y="1602199"/>
            <a:ext cx="3972231" cy="4989080"/>
          </a:xfrm>
          <a:prstGeom prst="rect">
            <a:avLst/>
          </a:prstGeom>
        </p:spPr>
      </p:pic>
    </p:spTree>
    <p:extLst>
      <p:ext uri="{BB962C8B-B14F-4D97-AF65-F5344CB8AC3E}">
        <p14:creationId xmlns:p14="http://schemas.microsoft.com/office/powerpoint/2010/main" val="35918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F02B-EDA0-6042-9440-0DE549C52860}"/>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FB8D0F26-27CD-A238-B62A-E5203828CF56}"/>
              </a:ext>
            </a:extLst>
          </p:cNvPr>
          <p:cNvSpPr>
            <a:spLocks noGrp="1"/>
          </p:cNvSpPr>
          <p:nvPr>
            <p:ph idx="1"/>
          </p:nvPr>
        </p:nvSpPr>
        <p:spPr>
          <a:xfrm>
            <a:off x="838200" y="2011680"/>
            <a:ext cx="5257800" cy="4094152"/>
          </a:xfrm>
        </p:spPr>
        <p:txBody>
          <a:bodyPr>
            <a:normAutofit/>
          </a:bodyPr>
          <a:lstStyle/>
          <a:p>
            <a:r>
              <a:rPr lang="en-IN" dirty="0">
                <a:latin typeface="Bell MT" panose="02020503060305020303" pitchFamily="18" charset="0"/>
              </a:rPr>
              <a:t>The Smart Cinema Seat Booking System demonstrates the practical use of Java programming. It uses data types, variables, operators, conditional statements, loops, classes, objects, methods, and arrays to manage movie ticket bookings and calculate the final bill.</a:t>
            </a:r>
          </a:p>
        </p:txBody>
      </p:sp>
      <p:pic>
        <p:nvPicPr>
          <p:cNvPr id="5" name="Picture 4">
            <a:extLst>
              <a:ext uri="{FF2B5EF4-FFF2-40B4-BE49-F238E27FC236}">
                <a16:creationId xmlns:a16="http://schemas.microsoft.com/office/drawing/2014/main" id="{80F8276A-45E1-B1E2-CC03-F2C276946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8555" y="2256792"/>
            <a:ext cx="4165637" cy="2344416"/>
          </a:xfrm>
          <a:prstGeom prst="rect">
            <a:avLst/>
          </a:prstGeom>
        </p:spPr>
      </p:pic>
    </p:spTree>
    <p:extLst>
      <p:ext uri="{BB962C8B-B14F-4D97-AF65-F5344CB8AC3E}">
        <p14:creationId xmlns:p14="http://schemas.microsoft.com/office/powerpoint/2010/main" val="50041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C154-404B-B782-6C2F-B84408C8FE17}"/>
              </a:ext>
            </a:extLst>
          </p:cNvPr>
          <p:cNvSpPr>
            <a:spLocks noGrp="1"/>
          </p:cNvSpPr>
          <p:nvPr>
            <p:ph type="title"/>
          </p:nvPr>
        </p:nvSpPr>
        <p:spPr/>
        <p:txBody>
          <a:bodyPr/>
          <a:lstStyle/>
          <a:p>
            <a:r>
              <a:rPr lang="en-IN" dirty="0"/>
              <a:t> GitHub Link :</a:t>
            </a:r>
          </a:p>
        </p:txBody>
      </p:sp>
      <p:sp>
        <p:nvSpPr>
          <p:cNvPr id="3" name="Content Placeholder 2">
            <a:extLst>
              <a:ext uri="{FF2B5EF4-FFF2-40B4-BE49-F238E27FC236}">
                <a16:creationId xmlns:a16="http://schemas.microsoft.com/office/drawing/2014/main" id="{8DABF54E-A496-E1F3-4222-B99B2E5BF95B}"/>
              </a:ext>
            </a:extLst>
          </p:cNvPr>
          <p:cNvSpPr>
            <a:spLocks noGrp="1"/>
          </p:cNvSpPr>
          <p:nvPr>
            <p:ph idx="1"/>
          </p:nvPr>
        </p:nvSpPr>
        <p:spPr>
          <a:xfrm>
            <a:off x="838200" y="1961709"/>
            <a:ext cx="10515600" cy="1097772"/>
          </a:xfrm>
        </p:spPr>
        <p:txBody>
          <a:bodyPr/>
          <a:lstStyle/>
          <a:p>
            <a:r>
              <a:rPr lang="en-IN" dirty="0">
                <a:latin typeface="Bell MT" panose="02020503060305020303" pitchFamily="18" charset="0"/>
              </a:rPr>
              <a:t>https://github.com/group5cinemaseatbookingsystem-lang/KLH_2026_T5_CINEMASEATBOOKINGSYSTEM</a:t>
            </a:r>
          </a:p>
        </p:txBody>
      </p:sp>
    </p:spTree>
    <p:extLst>
      <p:ext uri="{BB962C8B-B14F-4D97-AF65-F5344CB8AC3E}">
        <p14:creationId xmlns:p14="http://schemas.microsoft.com/office/powerpoint/2010/main" val="3433820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015EC-5089-6663-277B-2E961B277D1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E309EA2-6068-A7FC-841F-EE982CC56E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84982970"/>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Brush</Template>
  <TotalTime>147</TotalTime>
  <Words>1011</Words>
  <Application>Microsoft Office PowerPoint</Application>
  <PresentationFormat>Widescreen</PresentationFormat>
  <Paragraphs>98</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Bell MT</vt:lpstr>
      <vt:lpstr>Century Gothic</vt:lpstr>
      <vt:lpstr>Elephant</vt:lpstr>
      <vt:lpstr>BrushVTI</vt:lpstr>
      <vt:lpstr>CINEMA SEAT BOOKING SYSTEM</vt:lpstr>
      <vt:lpstr>Outline :</vt:lpstr>
      <vt:lpstr>Introduction :</vt:lpstr>
      <vt:lpstr>Abstract :</vt:lpstr>
      <vt:lpstr>Problem Statement : </vt:lpstr>
      <vt:lpstr>CO-1 — Data Types, Variables, Operators and Input/Output :</vt:lpstr>
      <vt:lpstr>CO-2 — Control Flow Statements :</vt:lpstr>
      <vt:lpstr>CO-3 — Methods, Recursion and Arrays :</vt:lpstr>
      <vt:lpstr>CO-4  — Strings :</vt:lpstr>
      <vt:lpstr>CO-5  — Exception Handling : </vt:lpstr>
      <vt:lpstr>CO-6  — StringBuffer :</vt:lpstr>
      <vt:lpstr>Output :</vt:lpstr>
      <vt:lpstr>Screenshot :</vt:lpstr>
      <vt:lpstr>Conclusion :</vt:lpstr>
      <vt:lpstr> GitHub Link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akshaya chowdary</dc:creator>
  <cp:lastModifiedBy>akshaya chowdary</cp:lastModifiedBy>
  <cp:revision>3</cp:revision>
  <dcterms:created xsi:type="dcterms:W3CDTF">2026-10-09T15:39:54Z</dcterms:created>
  <dcterms:modified xsi:type="dcterms:W3CDTF">2026-10-15T18:04:46Z</dcterms:modified>
</cp:coreProperties>
</file>